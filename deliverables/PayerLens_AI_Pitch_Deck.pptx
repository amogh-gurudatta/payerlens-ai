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08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001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2103120"/>
            <a:ext cx="2194560" cy="2194560"/>
          </a:xfrm>
          <a:prstGeom prst="ellipse">
            <a:avLst/>
          </a:prstGeom>
          <a:solidFill>
            <a:srgbClr val="003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9C7E8"/>
                </a:solidFill>
                <a:latin typeface="Calibri"/>
              </a:rPr>
              <a:t>NOVO NORDISK GBS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058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PayerLens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D8E1F5"/>
                </a:solidFill>
                <a:latin typeface="Calibri"/>
              </a:rPr>
              <a:t>Predicting Patient Access Through Payer &amp; Healthcare Ecosystem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FFFFFF"/>
                </a:solidFill>
                <a:latin typeface="Calibri"/>
              </a:rPr>
              <a:t>One-line problem: manufacturers spend weeks of fragmented, manual HEOR analysis to guess how NICE, G-BA, and HAS will respond to a new heart-failure therapy — PayerLens simulates the answer, live.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434840"/>
            <a:ext cx="50292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5371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94A3B8"/>
                </a:solidFill>
                <a:latin typeface="Calibri"/>
              </a:rPr>
              <a:t>COLLEGE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782312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Calibri"/>
              </a:rPr>
              <a:t>International Institute of Information Technology Bangalore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358384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94A3B8"/>
                </a:solidFill>
                <a:latin typeface="Calibri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568696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172A"/>
                </a:solidFill>
                <a:latin typeface="Calibri"/>
              </a:rPr>
              <a:t>Chamrajpet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92531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94A3B8"/>
                </a:solidFill>
                <a:latin typeface="Calibri"/>
              </a:rPr>
              <a:t>TEAM MEMBERS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6135624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475569"/>
                </a:solidFill>
                <a:latin typeface="Calibri"/>
              </a:rPr>
              <a:t>Amogh Gurudatta, Surya Kiran Basava, Saaket Ajay Manjrekar, Kedar Mallya, Vamshidhar Vagish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43484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55371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59669"/>
                </a:solidFill>
                <a:latin typeface="Calibri"/>
              </a:rPr>
              <a:t>HEADLINE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86460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0F172A"/>
                </a:solidFill>
                <a:latin typeface="Calibri"/>
              </a:rPr>
              <a:t>Collapses a 4-week, multi-team market-access strategy exercise into an interactive, citation-backed simulation — country-prioritized launch recommendations in minutes, not weeks.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8"/>
                </a:solidFill>
                <a:latin typeface="Calibri"/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Problem &amp;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AA0D6"/>
                </a:solidFill>
                <a:latin typeface="Calibri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205B"/>
                </a:solidFill>
                <a:latin typeface="Calibri"/>
              </a:rPr>
              <a:t>What problem are we solving?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55648"/>
            <a:ext cx="6675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Post-clinical-success reimbursement is uncertain across divergent European HTA systems: NICE weighs cost-effectiveness (£20–£30k/QALY), G-BA's AMNOG process legally bans ICERs and assesses added clinical benefit only, and HAS runs a dual SMR/ASMR track. The same evidence package can succeed in Germany and fail in the UK — and no platform lets a manufacturer simulate that divergence before committing to a submission strategy.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205B"/>
                </a:solidFill>
                <a:latin typeface="Calibri"/>
              </a:rPr>
              <a:t>Who is impacted?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03320"/>
            <a:ext cx="66751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b="1" sz="1300">
                <a:solidFill>
                  <a:srgbClr val="00205B"/>
                </a:solidFill>
                <a:latin typeface="Calibri"/>
              </a:rPr>
              <a:t>•  Market Access &amp; HEOR teams</a:t>
            </a:r>
            <a:r>
              <a:rPr sz="1300">
                <a:solidFill>
                  <a:srgbClr val="475569"/>
                </a:solidFill>
                <a:latin typeface="Calibri"/>
              </a:rPr>
              <a:t> — must build a defensible, evidence-cited access strategy per country.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b="1" sz="1300">
                <a:solidFill>
                  <a:srgbClr val="00205B"/>
                </a:solidFill>
                <a:latin typeface="Calibri"/>
              </a:rPr>
              <a:t>•  Commercial &amp; Pricing teams</a:t>
            </a:r>
            <a:r>
              <a:rPr sz="1300">
                <a:solidFill>
                  <a:srgbClr val="475569"/>
                </a:solidFill>
                <a:latin typeface="Calibri"/>
              </a:rPr>
              <a:t> — need to price-test before a single irreversible launch decision.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b="1" sz="1300">
                <a:solidFill>
                  <a:srgbClr val="00205B"/>
                </a:solidFill>
                <a:latin typeface="Calibri"/>
              </a:rPr>
              <a:t>•  Regulatory &amp; Medical Affairs</a:t>
            </a:r>
            <a:r>
              <a:rPr sz="1300">
                <a:solidFill>
                  <a:srgbClr val="475569"/>
                </a:solidFill>
                <a:latin typeface="Calibri"/>
              </a:rPr>
              <a:t> — must align trial design with what each payer will actually require.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b="1" sz="1300">
                <a:solidFill>
                  <a:srgbClr val="00205B"/>
                </a:solidFill>
                <a:latin typeface="Calibri"/>
              </a:rPr>
              <a:t>•  Patients</a:t>
            </a:r>
            <a:r>
              <a:rPr sz="1300">
                <a:solidFill>
                  <a:srgbClr val="475569"/>
                </a:solidFill>
                <a:latin typeface="Calibri"/>
              </a:rPr>
              <a:t> — wait longer for access every time launch strategy misses the mark.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371600"/>
            <a:ext cx="4114800" cy="4892040"/>
          </a:xfrm>
          <a:prstGeom prst="roundRect">
            <a:avLst>
              <a:gd name="adj" fmla="val 6000"/>
            </a:avLst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60020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59669"/>
                </a:solidFill>
                <a:latin typeface="Calibri"/>
              </a:rPr>
              <a:t>OUR INNOVATION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057400"/>
            <a:ext cx="35204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b="1" sz="1250">
                <a:solidFill>
                  <a:srgbClr val="FFFFFF"/>
                </a:solidFill>
                <a:latin typeface="Calibri"/>
              </a:rPr>
              <a:t>•  Dual-engine design.</a:t>
            </a:r>
            <a:r>
              <a:rPr sz="1250">
                <a:solidFill>
                  <a:srgbClr val="D8E1F5"/>
                </a:solidFill>
                <a:latin typeface="Calibri"/>
              </a:rPr>
              <a:t> A transparent, citation-audited multi-attribute simulation runs alongside a calibrated ML ensemble trained on real HTA rulings — explainability and predictive power in one tool, not a black box.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b="1" sz="1250">
                <a:solidFill>
                  <a:srgbClr val="FFFFFF"/>
                </a:solidFill>
                <a:latin typeface="Calibri"/>
              </a:rPr>
              <a:t>•  Provenance-tagged everything.</a:t>
            </a:r>
            <a:r>
              <a:rPr sz="1250">
                <a:solidFill>
                  <a:srgbClr val="D8E1F5"/>
                </a:solidFill>
                <a:latin typeface="Calibri"/>
              </a:rPr>
              <a:t> Every number carries a Statutory / Clinical / Epidemiological / Simulated tag traceable to its source document — a prediction a HEOR team could actually defend to a payer.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PayerLens AI  •  Novo Nordisk GBS Hackathon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8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Solution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AA0D6"/>
                </a:solidFill>
                <a:latin typeface="Calibri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109960" cy="9601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1">
                <a:solidFill>
                  <a:srgbClr val="0F172A"/>
                </a:solidFill>
                <a:latin typeface="Calibri"/>
              </a:rPr>
              <a:t>PayerLens AI is an interactive dashboard that predicts reimbursement probability for a heart-failure therapy across the UK, Germany, and France — letting a team test price points, diagnostic requirements, and patient-population strategy against five real historical drug precedents.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205B"/>
                </a:solidFill>
                <a:latin typeface="Calibri"/>
              </a:rPr>
              <a:t>How it works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2514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3063240"/>
            <a:ext cx="365760" cy="365760"/>
          </a:xfrm>
          <a:prstGeom prst="ellipse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9300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Pick a precedent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6732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75569"/>
                </a:solidFill>
                <a:latin typeface="Calibri"/>
              </a:rPr>
              <a:t>Farxiga, Verquvo, Entresto, Jardiance, or a broad-class archetype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3543300"/>
            <a:ext cx="32004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83280" y="2926080"/>
            <a:ext cx="2514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0440" y="3063240"/>
            <a:ext cx="365760" cy="365760"/>
          </a:xfrm>
          <a:prstGeom prst="ellipse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49300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Set the scenario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76732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75569"/>
                </a:solidFill>
                <a:latin typeface="Calibri"/>
              </a:rPr>
              <a:t>Annual price (€1.5k–8.5k) + companion-diagnostic requirement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97880" y="3543300"/>
            <a:ext cx="32004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2926080"/>
            <a:ext cx="2514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3063240"/>
            <a:ext cx="365760" cy="365760"/>
          </a:xfrm>
          <a:prstGeom prst="ellipse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49300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Engine blends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76732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75569"/>
                </a:solidFill>
                <a:latin typeface="Calibri"/>
              </a:rPr>
              <a:t>Calibrated ML prediction + documented regulatory-friction rules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32520" y="3543300"/>
            <a:ext cx="32004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052560" y="2926080"/>
            <a:ext cx="2514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89720" y="3063240"/>
            <a:ext cx="365760" cy="365760"/>
          </a:xfrm>
          <a:prstGeom prst="ellipse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49300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172A"/>
                </a:solidFill>
                <a:latin typeface="Calibri"/>
              </a:rPr>
              <a:t>Get the strategy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76732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75569"/>
                </a:solidFill>
                <a:latin typeface="Calibri"/>
              </a:rPr>
              <a:t>Country scores, budget alerts, launch sequence — live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5262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205B"/>
                </a:solidFill>
                <a:latin typeface="Calibri"/>
              </a:rPr>
              <a:t>Target users &amp; use case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892040"/>
            <a:ext cx="53949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A HEOR / Market Access analyst preparing a pre-launch access strategy for a novel-mechanism HF drug. Use case: “Given our Phase 3 data and target price, which country do we launch first — and what evidence gap must we close before submission?”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5262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0205B"/>
                </a:solidFill>
                <a:latin typeface="Calibri"/>
              </a:rPr>
              <a:t>Expected benefits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892040"/>
            <a:ext cx="2606040" cy="685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956048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59669"/>
                </a:solidFill>
                <a:latin typeface="Calibri"/>
              </a:rPr>
              <a:t>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230368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475569"/>
                </a:solidFill>
                <a:latin typeface="Calibri"/>
              </a:rPr>
              <a:t>Weeks → minutes per scenario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2560" y="4892040"/>
            <a:ext cx="2606040" cy="685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9720" y="4956048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59669"/>
                </a:solidFill>
                <a:latin typeface="Calibri"/>
              </a:rPr>
              <a:t>Cost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5230368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475569"/>
                </a:solidFill>
                <a:latin typeface="Calibri"/>
              </a:rPr>
              <a:t>Fewer cross-functional workshops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5687568"/>
            <a:ext cx="2606040" cy="685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5751576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59669"/>
                </a:solidFill>
                <a:latin typeface="Calibri"/>
              </a:rPr>
              <a:t>Quality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025896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475569"/>
                </a:solidFill>
                <a:latin typeface="Calibri"/>
              </a:rPr>
              <a:t>Every score cites its precedent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5687568"/>
            <a:ext cx="2606040" cy="685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89720" y="5751576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59669"/>
                </a:solidFill>
                <a:latin typeface="Calibri"/>
              </a:rPr>
              <a:t>Outcomes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9720" y="6025896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475569"/>
                </a:solidFill>
                <a:latin typeface="Calibri"/>
              </a:rPr>
              <a:t>Faster, better-targeted access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65392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PayerLens AI  •  Novo Nordisk GBS Hackathon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8"/>
                </a:solidFill>
                <a:latin typeface="Calibr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Technical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AA0D6"/>
                </a:solidFill>
                <a:latin typeface="Calibri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90472"/>
            <a:ext cx="20665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205B"/>
                </a:solidFill>
                <a:latin typeface="Calibri"/>
              </a:rPr>
              <a:t>Training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64792"/>
            <a:ext cx="20665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HAS ASMR/SMR CSVs, curated NICE TAs, curated G-BA §35a, ESC/NHS/OECD epidemiology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1874520"/>
            <a:ext cx="41148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91840" y="141732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490472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205B"/>
                </a:solidFill>
                <a:latin typeface="Calibri"/>
              </a:rPr>
              <a:t>train_model.py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1764792"/>
            <a:ext cx="23865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Feature engineering + jittered de-leaking, RF+GBM+LR voting, sigmoid calibration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97880" y="1874520"/>
            <a:ext cx="41148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141732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1490472"/>
            <a:ext cx="19293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205B"/>
                </a:solidFill>
                <a:latin typeface="Calibri"/>
              </a:rPr>
              <a:t>Model Artifact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1764792"/>
            <a:ext cx="1929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payerlens_rf_model.pkl — per-country calibrated ensembles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377440"/>
            <a:ext cx="79552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4A3B8"/>
                </a:solidFill>
                <a:latin typeface="Calibri"/>
              </a:rPr>
              <a:t>offline, one-time training pipeline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75120" y="2606040"/>
            <a:ext cx="0" cy="22860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" y="283464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907792"/>
            <a:ext cx="2523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React 19 + Vite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182112"/>
            <a:ext cx="252374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D8E1F5"/>
                </a:solidFill>
                <a:latin typeface="Calibri"/>
              </a:rPr>
              <a:t>Tailwind UI • Recharts • Vercel deployment. Local calibrated MCDM engine as offline fallback.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91840" y="3200400"/>
            <a:ext cx="457199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291840" y="3657600"/>
            <a:ext cx="457199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2834640"/>
            <a:ext cx="3063240" cy="1188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2907792"/>
            <a:ext cx="2843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205B"/>
                </a:solidFill>
                <a:latin typeface="Calibri"/>
              </a:rPr>
              <a:t>FastAPI ML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8" y="3182112"/>
            <a:ext cx="28437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/predict  /health  /model-info — Render deployment, CORS-enabled, Pydantic-validated schema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0" y="3429000"/>
            <a:ext cx="45720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360920" y="2834640"/>
            <a:ext cx="237744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70648" y="2907792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205B"/>
                </a:solidFill>
                <a:latin typeface="Calibri"/>
              </a:rPr>
              <a:t>Calibrated Ensemble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0648" y="3182112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Random Forest + Gradient Boosting + Logistic Regression, soft-voting, per-country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069080"/>
            <a:ext cx="79552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4A3B8"/>
                </a:solidFill>
                <a:latin typeface="Calibri"/>
              </a:rPr>
              <a:t>live request/response 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12680" y="1417320"/>
            <a:ext cx="1645920" cy="2651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15087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59669"/>
                </a:solidFill>
                <a:latin typeface="Calibri"/>
              </a:rPr>
              <a:t>STACK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1828800"/>
            <a:ext cx="14173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50">
                <a:solidFill>
                  <a:srgbClr val="475569"/>
                </a:solidFill>
                <a:latin typeface="Calibri"/>
              </a:rPr>
              <a:t>– React 19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50">
                <a:solidFill>
                  <a:srgbClr val="475569"/>
                </a:solidFill>
                <a:latin typeface="Calibri"/>
              </a:rPr>
              <a:t>– Vite 8 + Tailwind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50">
                <a:solidFill>
                  <a:srgbClr val="475569"/>
                </a:solidFill>
                <a:latin typeface="Calibri"/>
              </a:rPr>
              <a:t>– FastAPI + Pydantic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50">
                <a:solidFill>
                  <a:srgbClr val="475569"/>
                </a:solidFill>
                <a:latin typeface="Calibri"/>
              </a:rPr>
              <a:t>– scikit-learn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50">
                <a:solidFill>
                  <a:srgbClr val="475569"/>
                </a:solidFill>
                <a:latin typeface="Calibri"/>
              </a:rPr>
              <a:t>– Recharts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50">
                <a:solidFill>
                  <a:srgbClr val="475569"/>
                </a:solidFill>
                <a:latin typeface="Calibri"/>
              </a:rPr>
              <a:t>– Vercel / Render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66928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05B"/>
                </a:solidFill>
                <a:latin typeface="Calibri"/>
              </a:rPr>
              <a:t>Key technical choices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98932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Calibri"/>
              </a:rPr>
              <a:t>Algorithms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236208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Soft-voting ensemble (RF + GBM + LR) with sigmoid probability calibration (CalibratedClassifierCV); per-country StratifiedKFold cross-validation.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43400" y="598932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Calibri"/>
              </a:rPr>
              <a:t>Data sources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6236208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data.gouv.fr HAS ASMR/SMR registry, hand-curated NICE &amp; G-BA statutory precedents, ClinicalTrials.gov landmark endpoints, ESC/NHS/OECD epidemiology.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598932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Calibri"/>
              </a:rPr>
              <a:t>Evaluation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6236208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Held-out per-country test accuracy + rule-based explainability (decision catalysts/frictions) returned alongside every live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8"/>
                </a:solidFill>
                <a:latin typeface="Calibri"/>
              </a:rPr>
              <a:t>IT WORKS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Results &amp; Demo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AA0D6"/>
                </a:solidFill>
                <a:latin typeface="Calibri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port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035040" cy="369646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5940" y="1313180"/>
            <a:ext cx="6060440" cy="3721862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077206"/>
            <a:ext cx="6035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94A3B8"/>
                </a:solidFill>
                <a:latin typeface="Calibri"/>
              </a:rPr>
              <a:t>Live dashboard — default scenario, price €4,200, diagnostic required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32588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205B"/>
                </a:solidFill>
                <a:latin typeface="Calibri"/>
              </a:rPr>
              <a:t>What works right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645920"/>
            <a:ext cx="39776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>
                <a:solidFill>
                  <a:srgbClr val="475569"/>
                </a:solidFill>
                <a:latin typeface="Calibri"/>
              </a:rPr>
              <a:t>•  Full interactive dashboard — 5 historical precedents, live price + diagnostic sliders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>
                <a:solidFill>
                  <a:srgbClr val="475569"/>
                </a:solidFill>
                <a:latin typeface="Calibri"/>
              </a:rPr>
              <a:t>•  Real-time ML inference with sub-second response + live explainability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>
                <a:solidFill>
                  <a:srgbClr val="475569"/>
                </a:solidFill>
                <a:latin typeface="Calibri"/>
              </a:rPr>
              <a:t>•  3 chart views vs. a 70% historical viability benchmark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>
                <a:solidFill>
                  <a:srgbClr val="475569"/>
                </a:solidFill>
                <a:latin typeface="Calibri"/>
              </a:rPr>
              <a:t>•  Full audit trail — every metric cites its source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>
                <a:solidFill>
                  <a:srgbClr val="475569"/>
                </a:solidFill>
                <a:latin typeface="Calibri"/>
              </a:rPr>
              <a:t>•  Guided first-time onboarding tour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749039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205B"/>
                </a:solidFill>
                <a:latin typeface="Calibri"/>
              </a:rPr>
              <a:t>Model accuracy (held-out test)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0690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75569"/>
                </a:solidFill>
                <a:latin typeface="Calibri"/>
              </a:rPr>
              <a:t>UK (NICE)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406908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00205B"/>
                </a:solidFill>
                <a:latin typeface="Calibri"/>
              </a:rPr>
              <a:t>73.3%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3616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75569"/>
                </a:solidFill>
                <a:latin typeface="Calibri"/>
              </a:rPr>
              <a:t>Germany (G-BA)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43616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00205B"/>
                </a:solidFill>
                <a:latin typeface="Calibri"/>
              </a:rPr>
              <a:t>88.9%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65429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75569"/>
                </a:solidFill>
                <a:latin typeface="Calibri"/>
              </a:rPr>
              <a:t>France (HAS)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465429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00205B"/>
                </a:solidFill>
                <a:latin typeface="Calibri"/>
              </a:rPr>
              <a:t>94.8%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94690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75569"/>
                </a:solidFill>
                <a:latin typeface="Calibri"/>
              </a:rPr>
              <a:t>Combined CV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94690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00205B"/>
                </a:solidFill>
                <a:latin typeface="Calibri"/>
              </a:rPr>
              <a:t>82.8%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6949440" cy="9601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6583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F172A"/>
                </a:solidFill>
                <a:latin typeface="Calibri"/>
              </a:rPr>
              <a:t>Example walkthrough — Scenario D (Farxiga / DAPA-HF), €4,200, diagnostic required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33872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Input: HR 0.68, 32% hosp. reduction, biomarker-defined, direct comparator  →  Output: UK 72% · Germany 80% · France 92% · composite 81% (“Viable”). At €8,500: UK 40% · DE 60% · FR 84% · composite 61% (“High friction”).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5486400"/>
            <a:ext cx="3977639" cy="96012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557784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B45309"/>
                </a:solidFill>
                <a:latin typeface="Calibri"/>
              </a:rPr>
              <a:t>Limitations discovered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83387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France's synthetic features initially leaked their own label; fixed via jittering. UK/DE train on small curated corpora (73/42 rows) — more variance than France's 1,337.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65392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PayerLens AI  •  Novo Nordisk GBS Hackathon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8"/>
                </a:solidFill>
                <a:latin typeface="Calibr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Feasibility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AA0D6"/>
                </a:solidFill>
                <a:latin typeface="Calibri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Calibri"/>
              </a:rPr>
              <a:t>Feasible next: independent real per-drug trial features (closing France's remaining data circularity), native SHAP-based explainability, and EU-5 expansion (Italy AIFA, Spain AEMPS) per the original problem-statement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05B"/>
                </a:solidFill>
                <a:latin typeface="Calibri"/>
              </a:rPr>
              <a:t>Roadmap — next 4 milestones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26517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1752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Independent Feature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83280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Replace remaining imputed France features with real per-drug trial data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46120" y="3200400"/>
            <a:ext cx="13716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83280" y="251460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20440" y="26517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01752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Calibri"/>
              </a:rPr>
              <a:t>EU-5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383280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Add Italy (AIFA) and Spain (AEMPS) HTA models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200400"/>
            <a:ext cx="13716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17920" y="251460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55080" y="26517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01752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Calibri"/>
              </a:rPr>
              <a:t>Native XAI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383280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SHAP-based explainability directly from the trained ensemble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200400"/>
            <a:ext cx="13716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052560" y="251460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720" y="26517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301752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172A"/>
                </a:solidFill>
                <a:latin typeface="Calibri"/>
              </a:rPr>
              <a:t>Enterprise Readiness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3383280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475569"/>
                </a:solidFill>
                <a:latin typeface="Calibri"/>
              </a:rPr>
              <a:t>Auth, scenario-library persistence, audit logging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05B"/>
                </a:solidFill>
                <a:latin typeface="Calibri"/>
              </a:rPr>
              <a:t>Dependencies &amp; risks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526280"/>
            <a:ext cx="5394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475569"/>
                </a:solidFill>
                <a:latin typeface="Calibri"/>
              </a:rPr>
              <a:t>•  Stability of public data portals (data.gouv.fr schema/URLs)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475569"/>
                </a:solidFill>
                <a:latin typeface="Calibri"/>
              </a:rPr>
              <a:t>•  Regulatory data licensing for NICE/G-BA at scale beyond hand-curated samples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475569"/>
                </a:solidFill>
                <a:latin typeface="Calibri"/>
              </a:rPr>
              <a:t>•  Model generalization to therapeutic areas outside cardiology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475569"/>
                </a:solidFill>
                <a:latin typeface="Calibri"/>
              </a:rPr>
              <a:t>•  Render free-tier cold starts affecting live-demo reliability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16052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05B"/>
                </a:solidFill>
                <a:latin typeface="Calibri"/>
              </a:rPr>
              <a:t>Mitigation plan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526280"/>
            <a:ext cx="5394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475569"/>
                </a:solidFill>
                <a:latin typeface="Calibri"/>
              </a:rPr>
              <a:t>•  Local calibrated fallback keeps the app usable if the ML service is unreachable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475569"/>
                </a:solidFill>
                <a:latin typeface="Calibri"/>
              </a:rPr>
              <a:t>•  Versioned model artifacts + transparent /model-info accuracy reporting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475569"/>
                </a:solidFill>
                <a:latin typeface="Calibri"/>
              </a:rPr>
              <a:t>•  Jittered-imputation methodology documented in MODEL_CARD.md for audit reproducibility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65392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PayerLens AI  •  Novo Nordisk GBS Hackathon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7E8"/>
                </a:solidFill>
                <a:latin typeface="Calibr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AA0D6"/>
                </a:solidFill>
                <a:latin typeface="Calibri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PayerLens directly answers the problem statement's mandate: deliver a country-prioritized access strategy within 4 weeks — replacing fragmented, multi-week manual HEOR analysis with a live, evidence-cited simulation.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05B"/>
                </a:solidFill>
                <a:latin typeface="Calibri"/>
              </a:rPr>
              <a:t>Adoption pathway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2606040" cy="777240"/>
          </a:xfrm>
          <a:prstGeom prst="roundRect">
            <a:avLst>
              <a:gd name="adj" fmla="val 6000"/>
            </a:avLst>
          </a:prstGeom>
          <a:solidFill>
            <a:srgbClr val="0020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2606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1" sz="1250">
                <a:solidFill>
                  <a:srgbClr val="FFFFFF"/>
                </a:solidFill>
                <a:latin typeface="Calibri"/>
              </a:rPr>
              <a:t>Pilot</a:t>
            </a:r>
          </a:p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(Heart Failure)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54680" y="2948940"/>
            <a:ext cx="13716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291840" y="2560320"/>
            <a:ext cx="2606040" cy="777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560320"/>
            <a:ext cx="2606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1" sz="1250">
                <a:solidFill>
                  <a:srgbClr val="0F172A"/>
                </a:solidFill>
                <a:latin typeface="Calibri"/>
              </a:rPr>
              <a:t>Validate</a:t>
            </a:r>
          </a:p>
          <a:p>
            <a:pPr algn="ctr"/>
            <a:r>
              <a:rPr sz="900">
                <a:solidFill>
                  <a:srgbClr val="475569"/>
                </a:solidFill>
                <a:latin typeface="Calibri"/>
              </a:rPr>
              <a:t>(MA/HEOR/Reg/Comml)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97880" y="2948940"/>
            <a:ext cx="13716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035040" y="2560320"/>
            <a:ext cx="2606040" cy="777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560320"/>
            <a:ext cx="2606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1" sz="1250">
                <a:solidFill>
                  <a:srgbClr val="0F172A"/>
                </a:solidFill>
                <a:latin typeface="Calibri"/>
              </a:rPr>
              <a:t>Expand</a:t>
            </a:r>
          </a:p>
          <a:p>
            <a:pPr algn="ctr"/>
            <a:r>
              <a:rPr sz="900">
                <a:solidFill>
                  <a:srgbClr val="475569"/>
                </a:solidFill>
                <a:latin typeface="Calibri"/>
              </a:rPr>
              <a:t>(EU-5 + indications)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41080" y="2948940"/>
            <a:ext cx="13716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778240" y="2560320"/>
            <a:ext cx="2606040" cy="777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0" y="2560320"/>
            <a:ext cx="2606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1" sz="1250">
                <a:solidFill>
                  <a:srgbClr val="0F172A"/>
                </a:solidFill>
                <a:latin typeface="Calibri"/>
              </a:rPr>
              <a:t>Embed</a:t>
            </a:r>
          </a:p>
          <a:p>
            <a:pPr algn="ctr"/>
            <a:r>
              <a:rPr sz="900">
                <a:solidFill>
                  <a:srgbClr val="475569"/>
                </a:solidFill>
                <a:latin typeface="Calibri"/>
              </a:rPr>
              <a:t>(Launch workflow)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61188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05B"/>
                </a:solidFill>
                <a:latin typeface="Calibri"/>
              </a:rPr>
              <a:t>Evidence &amp; assumptions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5020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Calibri"/>
              </a:rPr>
              <a:t>Calibrated against real historical HTA rulings (NICE TA388/679/773/793, G-BA resolutions, HAS CT opinions). Assumes payer behavior for a novel-MoA HF drug will pattern-match these precedents — stated explicitly as an assumption, positioned to augment, not replace, HEOR expert judgement.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00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205B"/>
                </a:solidFill>
                <a:latin typeface="Calibri"/>
              </a:rPr>
              <a:t>Three things to remember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6636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5303520"/>
            <a:ext cx="320040" cy="3200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3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15000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F172A"/>
                </a:solidFill>
                <a:latin typeface="Calibri"/>
              </a:rPr>
              <a:t>One platform replaces weeks of fragmented manual analysis with a live simulation.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516636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34840" y="5303520"/>
            <a:ext cx="320040" cy="3200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3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5715000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F172A"/>
                </a:solidFill>
                <a:latin typeface="Calibri"/>
              </a:rPr>
              <a:t>Every prediction is citation-backed and audit-ready — not a black box.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516636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5303520"/>
            <a:ext cx="320040" cy="3200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3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5715000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F172A"/>
                </a:solidFill>
                <a:latin typeface="Calibri"/>
              </a:rPr>
              <a:t>Transparent MCDM + calibrated ML balances explainability with predictive power.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65392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PayerLens AI  •  Novo Nordisk GBS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