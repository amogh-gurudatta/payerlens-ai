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08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01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2103120"/>
            <a:ext cx="2194560" cy="2194560"/>
          </a:xfrm>
          <a:prstGeom prst="ellipse">
            <a:avLst/>
          </a:prstGeom>
          <a:solidFill>
            <a:srgbClr val="0033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C7E8"/>
                </a:solidFill>
                <a:latin typeface="Calibri"/>
              </a:rPr>
              <a:t>NOVO NORDISK GBS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058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PayerLens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8E1F5"/>
                </a:solidFill>
                <a:latin typeface="Calibri"/>
              </a:rPr>
              <a:t>Predicting Patient Access Through Payer &amp; Healthcare Ecosystem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FFFFFF"/>
                </a:solidFill>
                <a:latin typeface="Calibri"/>
              </a:rPr>
              <a:t>One-line problem: manufacturers spend weeks of fragmented, manual HEOR analysis to guess how NICE, G-BA, and HAS will respond to a new heart-failure therapy — PayerLens simulates the answer, live.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43484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55371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4A3B8"/>
                </a:solidFill>
                <a:latin typeface="Calibri"/>
              </a:rPr>
              <a:t>COLLEGE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782312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International Institute of Information Technology Bangalore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358384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4A3B8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5686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Chamrajpet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925312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4A3B8"/>
                </a:solidFill>
                <a:latin typeface="Calibri"/>
              </a:rPr>
              <a:t>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6135624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Amogh Gurudatta, Surya Kiran Basava, Saaket Ajay Manjrekar, Kedar Mallya, Vamshidhar Vagish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434840"/>
            <a:ext cx="5257800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5537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59669"/>
                </a:solidFill>
                <a:latin typeface="Calibri"/>
              </a:rPr>
              <a:t>HEADLINE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864608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0F172A"/>
                </a:solidFill>
                <a:latin typeface="Calibri"/>
              </a:rPr>
              <a:t>Collapses a 4-week, multi-team market-access strategy exercise into an interactive, citation-backed simulation — country-prioritized launch recommendations in minutes, not weeks.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Problem &amp;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05B"/>
                </a:solidFill>
                <a:latin typeface="Calibri"/>
              </a:rPr>
              <a:t>What problem are we solving?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Post-clinical-success reimbursement is uncertain across divergent European HTA systems: NICE weighs cost-effectiveness (£20–£30k/QALY), G-BA's AMNOG process legally bans ICERs and assesses added clinical benefit only, and HAS runs a dual SMR/ASMR track. The same evidence package can succeed in Germany and fail in the UK — and no platform lets a manufacturer simulate that divergence before committing to a submission strategy.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675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05B"/>
                </a:solidFill>
                <a:latin typeface="Calibri"/>
              </a:rPr>
              <a:t>Who is impacted?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66751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b="1" sz="1300">
                <a:solidFill>
                  <a:srgbClr val="00205B"/>
                </a:solidFill>
                <a:latin typeface="Calibri"/>
              </a:rPr>
              <a:t>•  Market Access &amp; HEOR teams</a:t>
            </a:r>
            <a:r>
              <a:rPr sz="1300">
                <a:solidFill>
                  <a:srgbClr val="475569"/>
                </a:solidFill>
                <a:latin typeface="Calibri"/>
              </a:rPr>
              <a:t> — must build a defensible, evidence-cited access strategy per country.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b="1" sz="1300">
                <a:solidFill>
                  <a:srgbClr val="00205B"/>
                </a:solidFill>
                <a:latin typeface="Calibri"/>
              </a:rPr>
              <a:t>•  Commercial &amp; Pricing teams</a:t>
            </a:r>
            <a:r>
              <a:rPr sz="1300">
                <a:solidFill>
                  <a:srgbClr val="475569"/>
                </a:solidFill>
                <a:latin typeface="Calibri"/>
              </a:rPr>
              <a:t> — need to price-test before a single irreversible launch decision.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b="1" sz="1300">
                <a:solidFill>
                  <a:srgbClr val="00205B"/>
                </a:solidFill>
                <a:latin typeface="Calibri"/>
              </a:rPr>
              <a:t>•  Regulatory &amp; Medical Affairs</a:t>
            </a:r>
            <a:r>
              <a:rPr sz="1300">
                <a:solidFill>
                  <a:srgbClr val="475569"/>
                </a:solidFill>
                <a:latin typeface="Calibri"/>
              </a:rPr>
              <a:t> — must align trial design with what each payer will actually require.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b="1" sz="1300">
                <a:solidFill>
                  <a:srgbClr val="00205B"/>
                </a:solidFill>
                <a:latin typeface="Calibri"/>
              </a:rPr>
              <a:t>•  Patients</a:t>
            </a:r>
            <a:r>
              <a:rPr sz="1300">
                <a:solidFill>
                  <a:srgbClr val="475569"/>
                </a:solidFill>
                <a:latin typeface="Calibri"/>
              </a:rPr>
              <a:t> — wait longer for access every time launch strategy misses the mark.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371600"/>
            <a:ext cx="4114800" cy="4892040"/>
          </a:xfrm>
          <a:prstGeom prst="roundRect">
            <a:avLst>
              <a:gd name="adj" fmla="val 6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60020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59669"/>
                </a:solidFill>
                <a:latin typeface="Calibri"/>
              </a:rPr>
              <a:t>OUR INNOVATION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57400"/>
            <a:ext cx="3520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b="1" sz="1250">
                <a:solidFill>
                  <a:srgbClr val="FFFFFF"/>
                </a:solidFill>
                <a:latin typeface="Calibri"/>
              </a:rPr>
              <a:t>•  Dual-engine design.</a:t>
            </a:r>
            <a:r>
              <a:rPr sz="1250">
                <a:solidFill>
                  <a:srgbClr val="D8E1F5"/>
                </a:solidFill>
                <a:latin typeface="Calibri"/>
              </a:rPr>
              <a:t> A transparent, citation-audited multi-attribute simulation runs alongside a calibrated ML ensemble trained on real HTA rulings — explainability and predictive power in one tool, not a black box.</a:t>
            </a:r>
          </a:p>
          <a:p>
            <a:pPr algn="l">
              <a:lnSpc>
                <a:spcPct val="120000"/>
              </a:lnSpc>
              <a:spcAft>
                <a:spcPts val="1600"/>
              </a:spcAft>
            </a:pPr>
            <a:r>
              <a:rPr b="1" sz="1250">
                <a:solidFill>
                  <a:srgbClr val="FFFFFF"/>
                </a:solidFill>
                <a:latin typeface="Calibri"/>
              </a:rPr>
              <a:t>•  Provenance-tagged everything.</a:t>
            </a:r>
            <a:r>
              <a:rPr sz="1250">
                <a:solidFill>
                  <a:srgbClr val="D8E1F5"/>
                </a:solidFill>
                <a:latin typeface="Calibri"/>
              </a:rPr>
              <a:t> Every number carries a Statutory / Clinical / Epidemiological / Simulated tag traceable to its source document — a prediction a HEOR team could actually defend to a payer.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Novo Nordisk GBS Hackathon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Solution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10996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0F172A"/>
                </a:solidFill>
                <a:latin typeface="Calibri"/>
              </a:rPr>
              <a:t>PayerLens AI is an interactive dashboard that predicts reimbursement probability for a heart-failure therapy across the UK, Germany, and France — letting a team test price points, diagnostic requirements, and patient-population strategy against five real historical drug precedents.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05B"/>
                </a:solidFill>
                <a:latin typeface="Calibri"/>
              </a:rPr>
              <a:t>How it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92608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3063240"/>
            <a:ext cx="365760" cy="36576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930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Pick a precedent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67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Farxiga, Verquvo, Entresto, Jardiance, or a broad-class archetype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40" y="3543300"/>
            <a:ext cx="32004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83280" y="292608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0440" y="3063240"/>
            <a:ext cx="365760" cy="36576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4930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Set the scenario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67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Annual price (€1.5k–8.5k) + companion-diagnostic requirement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97880" y="3543300"/>
            <a:ext cx="32004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17920" y="292608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80" y="3063240"/>
            <a:ext cx="365760" cy="36576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930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Engine blends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67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Calibrated ML prediction + documented regulatory-friction rules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32520" y="3543300"/>
            <a:ext cx="32004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52560" y="2926080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189720" y="3063240"/>
            <a:ext cx="365760" cy="365760"/>
          </a:xfrm>
          <a:prstGeom prst="ellipse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9300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F172A"/>
                </a:solidFill>
                <a:latin typeface="Calibri"/>
              </a:rPr>
              <a:t>Get the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767328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475569"/>
                </a:solidFill>
                <a:latin typeface="Calibri"/>
              </a:rPr>
              <a:t>Country scores, budget alerts, launch sequence — 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205B"/>
                </a:solidFill>
                <a:latin typeface="Calibri"/>
              </a:rPr>
              <a:t>Target users &amp; use 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53949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A HEOR / Market Access analyst preparing a pre-launch access strategy for a novel-mechanism HF drug. Use case: “Given our Phase 3 data and target price, which country do we launch first — and what evidence gap must we close before submission?”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526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0205B"/>
                </a:solidFill>
                <a:latin typeface="Calibri"/>
              </a:rPr>
              <a:t>Expected benefits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89204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9560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59669"/>
                </a:solidFill>
                <a:latin typeface="Calibri"/>
              </a:rPr>
              <a:t>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3036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Weeks → minutes per scenario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4892040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95604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59669"/>
                </a:solidFill>
                <a:latin typeface="Calibri"/>
              </a:rPr>
              <a:t>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523036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Fewer cross-functional workshops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5687568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75157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59669"/>
                </a:solidFill>
                <a:latin typeface="Calibri"/>
              </a:rPr>
              <a:t>Quality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02589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Every score cites its precedent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5687568"/>
            <a:ext cx="2606040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20" y="575157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59669"/>
                </a:solidFill>
                <a:latin typeface="Calibri"/>
              </a:rPr>
              <a:t>Outcomes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602589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475569"/>
                </a:solidFill>
                <a:latin typeface="Calibri"/>
              </a:rPr>
              <a:t>Faster, better-targeted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Novo Nordisk GBS Hackathon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0665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2066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HAS ASMR/SMR CSVs, curated NICE TAs, curated G-BA §35a, ESC/NHS/OECD epidemiology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1874520"/>
            <a:ext cx="4114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91840" y="1417320"/>
            <a:ext cx="26060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490472"/>
            <a:ext cx="23865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train_model.py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764792"/>
            <a:ext cx="23865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Feature engineering + jittered de-leaking, RF+GBM+LR voting, sigmoid calibration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1874520"/>
            <a:ext cx="41148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80" y="141732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490472"/>
            <a:ext cx="19293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Model 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64792"/>
            <a:ext cx="192938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payerlens_rf_model.pkl — per-country calibrated ensembles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79552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offline, one-time training pipeline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675120" y="2606040"/>
            <a:ext cx="0" cy="22860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283464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907792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React 19 + Vite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182112"/>
            <a:ext cx="25237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D8E1F5"/>
                </a:solidFill>
                <a:latin typeface="Calibri"/>
              </a:rPr>
              <a:t>Tailwind UI • Recharts • Vercel deployment. Local calibrated MCDM engine as offline fallback.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3200400"/>
            <a:ext cx="457199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291840" y="3657600"/>
            <a:ext cx="457199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794760" y="2834640"/>
            <a:ext cx="3063240" cy="11887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04488" y="2907792"/>
            <a:ext cx="28437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FastAPI ML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8" y="3182112"/>
            <a:ext cx="28437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/predict  /health  /model-info — Render deployment, CORS-enabled, Pydantic-validated schema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0" y="3429000"/>
            <a:ext cx="45720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60920" y="2834640"/>
            <a:ext cx="23774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2907792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Calibrated Ensemble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182112"/>
            <a:ext cx="21579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Random Forest + Gradient Boosting + Logistic Regression, soft-voting, per-country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069080"/>
            <a:ext cx="79552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live request/response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1417320"/>
            <a:ext cx="1645920" cy="26517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150876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STACK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1828800"/>
            <a:ext cx="14173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React 19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Vite 8 + Tailwind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FastAPI + Pydantic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scikit-learn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Recharts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950">
                <a:solidFill>
                  <a:srgbClr val="475569"/>
                </a:solidFill>
                <a:latin typeface="Calibri"/>
              </a:rPr>
              <a:t>– Vercel / Render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692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Key technical choices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893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Algorithms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36208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Soft-voting ensemble (RF + GBM + LR) with sigmoid probability calibration (CalibratedClassifierCV); per-country StratifiedKFold cross-validation.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59893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Data sources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6236208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data.gouv.fr HAS ASMR/SMR registry, hand-curated NICE &amp; G-BA statutory precedents, ClinicalTrials.gov landmark endpoints, ESC/NHS/OECD epidemiology.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59893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6236208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Held-out per-country test accuracy + rule-based explainability (decision catalysts/frictions) returned alongside every live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IT WORKS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Results &amp; Demo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port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035040" cy="369646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5940" y="1313180"/>
            <a:ext cx="6060440" cy="3721862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77206"/>
            <a:ext cx="6035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4A3B8"/>
                </a:solidFill>
                <a:latin typeface="Calibri"/>
              </a:rPr>
              <a:t>Live dashboard — default scenario, price €4,200, diagnostic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32588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205B"/>
                </a:solidFill>
                <a:latin typeface="Calibri"/>
              </a:rPr>
              <a:t>What works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645920"/>
            <a:ext cx="3977639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Full interactive dashboard — 5 historical precedents, live price + diagnostic sliders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Real-time ML inference with sub-second response + live explainability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3 chart views vs. a 70% historical viability benchmark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Full audit trail — every metric cites its source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Guided first-time onboarding tour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3749039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205B"/>
                </a:solidFill>
                <a:latin typeface="Calibri"/>
              </a:rPr>
              <a:t>Model accuracy (held-out test)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06908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UK (NICE)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40690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205B"/>
                </a:solidFill>
                <a:latin typeface="Calibri"/>
              </a:rPr>
              <a:t>73.3%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36168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Germany (G-BA)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436168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205B"/>
                </a:solidFill>
                <a:latin typeface="Calibri"/>
              </a:rPr>
              <a:t>88.9%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65429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France (HAS)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4654296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205B"/>
                </a:solidFill>
                <a:latin typeface="Calibri"/>
              </a:rPr>
              <a:t>94.8%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946904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Combined 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4946904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00205B"/>
                </a:solidFill>
                <a:latin typeface="Calibri"/>
              </a:rPr>
              <a:t>82.8%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6949440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77840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Example walkthrough — Scenario D (Farxiga / DAPA-HF), €4,200, diagnostic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Input: HR 0.68, 32% hosp. reduction, biomarker-defined, direct comparator  →  Output: UK 72% · Germany 80% · France 92% · composite 81% (“Viable”). At €8,500: UK 40% · DE 60% · FR 84% · composite 61% (“High friction”).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486400"/>
            <a:ext cx="3977639" cy="96012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577840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45309"/>
                </a:solidFill>
                <a:latin typeface="Calibri"/>
              </a:rPr>
              <a:t>Limitations discovered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83387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France's synthetic features initially leaked their own label; fixed via jittering. UK/DE train on small curated corpora (73/42 rows) — more variance than France's 1,337.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Novo Nordisk GBS Hackathon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Feasibility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Feasible next: independent real per-drug trial features (closing France's remaining data circularity), native SHAP-based explainability, and EU-5 expansion (Italy AIFA, Spain AEMPS) per the original problem-statement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Roadmap — next 4 milestones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Independent Feature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8328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Replace remaining imputed France features with real per-drug trial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46120" y="320040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2514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20440" y="26517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EU-5 Expansion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Add Italy (AIFA) and Spain (AEMPS) HTA 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20040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17920" y="2514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26517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01752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Native XAI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SHAP-based explainability directly from the trained ensemble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20040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60" y="251460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720" y="2651760"/>
            <a:ext cx="502920" cy="274320"/>
          </a:xfrm>
          <a:prstGeom prst="roundRect">
            <a:avLst>
              <a:gd name="adj" fmla="val 50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3017520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F172A"/>
                </a:solidFill>
                <a:latin typeface="Calibri"/>
              </a:rPr>
              <a:t>Enterprise 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38328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Auth, scenario-library persistence, audit logging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Dependencies &amp;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8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Stability of public data portals (data.gouv.fr schema/URLs)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Regulatory data licensing for NICE/G-BA at scale beyond hand-curated samples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Model generalization to therapeutic areas outside cardiology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Render free-tier cold starts affecting live-demo reliability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16052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Mitigation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52628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Local calibrated fallback keeps the app usable if the ML service is unreachable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Versioned model artifacts + transparent /model-info accuracy reporting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00">
                <a:solidFill>
                  <a:srgbClr val="475569"/>
                </a:solidFill>
                <a:latin typeface="Calibri"/>
              </a:rPr>
              <a:t>•  Jittered-imputation methodology documented in MODEL_CARD.md for audit reproducibility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Novo Nordisk GBS Hackathon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0">
                <a:solidFill>
                  <a:srgbClr val="8AA0D6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PayerLens directly answers the problem statement's mandate: deliver a country-prioritized access strategy within 4 weeks — replacing fragmented, multi-week manual HEOR analysis with a live, evidence-cited simulation.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Adoption pathway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2606040" cy="777240"/>
          </a:xfrm>
          <a:prstGeom prst="roundRect">
            <a:avLst>
              <a:gd name="adj" fmla="val 6000"/>
            </a:avLst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06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250">
                <a:solidFill>
                  <a:srgbClr val="FFFFFF"/>
                </a:solidFill>
                <a:latin typeface="Calibri"/>
              </a:rPr>
              <a:t>Pilot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Calibri"/>
              </a:rPr>
              <a:t>(Heart Failure)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294894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40" y="2560320"/>
            <a:ext cx="2606040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560320"/>
            <a:ext cx="2606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250">
                <a:solidFill>
                  <a:srgbClr val="0F172A"/>
                </a:solidFill>
                <a:latin typeface="Calibri"/>
              </a:rPr>
              <a:t>Validate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Calibri"/>
              </a:rPr>
              <a:t>(MA/HEOR/Reg/Comml)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80" y="294894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35040" y="2560320"/>
            <a:ext cx="2606040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2560320"/>
            <a:ext cx="2606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250">
                <a:solidFill>
                  <a:srgbClr val="0F172A"/>
                </a:solidFill>
                <a:latin typeface="Calibri"/>
              </a:rPr>
              <a:t>Expand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Calibri"/>
              </a:rPr>
              <a:t>(EU-5 + indications)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2948940"/>
            <a:ext cx="137160" cy="0"/>
          </a:xfrm>
          <a:prstGeom prst="line">
            <a:avLst/>
          </a:prstGeom>
          <a:ln w="19050">
            <a:solidFill>
              <a:srgbClr val="94A3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78240" y="2560320"/>
            <a:ext cx="2606040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2560320"/>
            <a:ext cx="2606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1" sz="1250">
                <a:solidFill>
                  <a:srgbClr val="0F172A"/>
                </a:solidFill>
                <a:latin typeface="Calibri"/>
              </a:rPr>
              <a:t>Embed</a:t>
            </a:r>
          </a:p>
          <a:p>
            <a:pPr algn="ctr"/>
            <a:r>
              <a:rPr sz="900">
                <a:solidFill>
                  <a:srgbClr val="475569"/>
                </a:solidFill>
                <a:latin typeface="Calibri"/>
              </a:rPr>
              <a:t>(Launch workflow)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Evidence &amp;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Calibrated against real historical HTA rulings (NICE TA388/679/773/793, G-BA resolutions, HAS CT opinions). Assumes payer behavior for a novel-MoA HF drug will pattern-match these precedents — stated explicitly as an assumption, positioned to augment, not replace, HEOR expert judgement.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205B"/>
                </a:solidFill>
                <a:latin typeface="Calibri"/>
              </a:rPr>
              <a:t>Three things to remember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30352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One platform replaces weeks of fragmented manual analysis with a live simulation.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51663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34840" y="530352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71500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Every prediction is citation-backed and audit-ready — not a black box.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5166360"/>
            <a:ext cx="3611880" cy="1234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83880" y="5303520"/>
            <a:ext cx="320040" cy="3200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3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715000"/>
            <a:ext cx="333756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Transparent MCDM + calibrated ML balances explainability with predictive power.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Novo Nordisk GBS Hackathon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RESPONSE TO PRE-FINALE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Scoring Methodology: How the Matrix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384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A two-layer architecture: an expert-calibrated rubric sets each scenario's baseline; two computational engines make it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4A3B8"/>
                </a:solidFill>
                <a:latin typeface="Calibri"/>
              </a:rPr>
              <a:t>Scenario names below are the drug precedents each was calibrated against — our original submission used generic labels (e.g. “Biomarker-Defined High Risk”); see the accompanying Word document, Section 1.1, for the full naming correspondence.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11109960" cy="777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10607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0205B"/>
                </a:solidFill>
                <a:latin typeface="Calibri"/>
              </a:rPr>
              <a:t>Reimbursement Potential Score  =  ( P + U + C + A + F + E )  −  ( G_impl + G_evid 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926080"/>
          <a:ext cx="11109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822960"/>
                <a:gridCol w="3108960"/>
                <a:gridCol w="4160520"/>
              </a:tblGrid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 it reads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P — Patient Opportunity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0–15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Eligible population share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OECD/Eurostat/BHF epidemiology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U — Unmet Medical Need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0–20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Burden of disease, CV event risk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ESC 2021 guidelines; NHS HES data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C — Clinical Differentiation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0–25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Effect size vs. comparator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Landmark trial hazard ratios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A — Country Payer Archetype Alignment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0–35*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Fit with THAT agency's decision currency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NICE ICER / G-BA benefit / HAS SMR-ASMR logic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F — Affordability / Budget Fit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0–10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Budget impact vs. statutory threshold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NHS £20m / German €30m / French €20m tests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E — Evidence Strength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0–15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Trial design rigor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Trial phase &amp; pre-specification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G — Implementation + Evidence-Gap Penalties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−0 to −35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Diagnostic friction &amp; unresolved objections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NICE DAP, G-BA Labor-Richtlinie, French RIHN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4406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B45309"/>
                </a:solidFill>
                <a:latin typeface="Calibri"/>
              </a:rPr>
              <a:t>* Corrected from 0–15 in our original deck once we solved for A against our own published probabilities — see next slide.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205B"/>
                </a:solidFill>
                <a:latin typeface="Calibri"/>
              </a:rPr>
              <a:t>From static score to live app — not equal partners: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>
                <a:solidFill>
                  <a:srgbClr val="475569"/>
                </a:solidFill>
                <a:latin typeface="Calibri"/>
              </a:rPr>
              <a:t>•  Our first submission used only the deterministic formula above. We've since added a calibrated ML ensemble (13 features, 1,452 records) that is what the live dashboard actually shows when our backend is reachable; the deterministic formula now runs only as the offline fallback.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Response to pre-finale review — scoring methodology appendix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C7E8"/>
                </a:solidFill>
                <a:latin typeface="Calibri"/>
              </a:rPr>
              <a:t>RESPONSE TO PRE-FINALE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Reconciled Scoring Component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81360" y="3840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APPENDIX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475569"/>
                </a:solidFill>
                <a:latin typeface="Calibri"/>
              </a:rPr>
              <a:t>Every cell below sums exactly to the calibrated probability in our Scenario Evaluation Matrix — P, U, C, F, E and G are scenario-level; A is the only country-dependent term.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1965960"/>
          <a:ext cx="1149400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603504"/>
                <a:gridCol w="603504"/>
                <a:gridCol w="603504"/>
                <a:gridCol w="1618488"/>
                <a:gridCol w="603504"/>
                <a:gridCol w="603504"/>
                <a:gridCol w="905256"/>
                <a:gridCol w="905256"/>
                <a:gridCol w="1618488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U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 (UK/DE/FR)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G_impl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G_evid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Score (UK/DE/FR)</a:t>
                      </a:r>
                    </a:p>
                  </a:txBody>
                  <a:tcPr anchor="ctr" marL="38100" marR="38100" marT="25400" marB="25400">
                    <a:solidFill>
                      <a:srgbClr val="00205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Farxiga (D) — Biomarker-Defined High Risk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27/32/31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205B"/>
                          </a:solidFill>
                          <a:latin typeface="Calibri"/>
                        </a:rPr>
                        <a:t>90/95/94%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Verquvo (C) — Frequent Hospitalisation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25/30/28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205B"/>
                          </a:solidFill>
                          <a:latin typeface="Calibri"/>
                        </a:rPr>
                        <a:t>84/89/87%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Entresto (B) — High Risk Despite SoC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23/30/27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205B"/>
                          </a:solidFill>
                          <a:latin typeface="Calibri"/>
                        </a:rPr>
                        <a:t>80/87/84%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Jardiance (E) — Later-Line Severe Unmet Need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24/28/28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-5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205B"/>
                          </a:solidFill>
                          <a:latin typeface="Calibri"/>
                        </a:rPr>
                        <a:t>77/81/81%</a:t>
                      </a:r>
                    </a:p>
                  </a:txBody>
                  <a:tcPr anchor="ctr" marL="38100" marR="38100" marT="12700" marB="12700"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Broad Class (A) — Broad HF Population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17/23/20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-2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F172A"/>
                          </a:solidFill>
                          <a:latin typeface="Calibri"/>
                        </a:rPr>
                        <a:t>-4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0205B"/>
                          </a:solidFill>
                          <a:latin typeface="Calibri"/>
                        </a:rPr>
                        <a:t>64/70/67%</a:t>
                      </a:r>
                    </a:p>
                  </a:txBody>
                  <a:tcPr anchor="ctr" marL="38100" marR="381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5120640"/>
            <a:ext cx="11109960" cy="12801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205B"/>
                </a:solidFill>
                <a:latin typeface="Calibri"/>
              </a:rPr>
              <a:t>Verification example (Scenario D, Germany):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532120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0F172A"/>
                </a:solidFill>
                <a:latin typeface="Calibri"/>
              </a:rPr>
              <a:t>8 (P) + 18 (U) + 22 (C) + 32 (A) + 8 (F) + 15 (E) − 6 (G_impl) − 2 (G_evid)  =  95%  ✓ matches the published German probability exactly.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75569"/>
                </a:solidFill>
                <a:latin typeface="Calibri"/>
              </a:rPr>
              <a:t>Pattern: A(Germany) ≥ A(France) ≥ A(UK) in every scenario — Germany's added-benefit-only AMNOG process rewards evidence alignment most directly; the UK's hard ICER ceiling constrains it most.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65392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PayerLens AI  •  Response to pre-finale review — scoring methodology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